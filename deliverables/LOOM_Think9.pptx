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their own stated principle. The framing is agility and speed, not cost cutting - which is why the north-star metric is cycle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correct their 30+ figure. Frame it as designing ahead of the growth curve.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money slide. Land it slowly. Everything downstream depends on resolving identity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 this cold. It is the claim the whole pitch rests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closing argument for centrality. The acquisition angle is specific to Think9 - they bought Whoppl and have been in talks with a dozen D2C brands.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85% coverage with four visible holds is the credible number. A resolver that catches everything reads as a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 this inside the Office of Optimisation - it delivers that unit's first supply-chain case study.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73736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spc="4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LOOM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594360" y="30632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cross-portfolio sourcing intelligence layer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" y="3657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C15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30x the buying power.  1x the negotiating leverage.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94360" y="5943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Think9 AI &amp; Intelligence Challenge   ·   Track 2: Cross-Portfolio Supply Chain &amp; Sourcing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75320" y="1737360"/>
            <a:ext cx="3291840" cy="1828800"/>
          </a:xfrm>
          <a:prstGeom prst="roundRect">
            <a:avLst>
              <a:gd name="adj" fmla="val 3000"/>
            </a:avLst>
          </a:prstGeom>
          <a:solidFill>
            <a:srgbClr val="0F1A2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549640" y="19659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E8E4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“AI will redefine agility for business — making paths to growth speedy and seamless.”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49640" y="3108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E8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Think9, Principles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20" kern="0" dirty="0">
                <a:solidFill>
                  <a:srgbClr val="C15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4572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Packaging costs are spiking this quarter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5029200" cy="2514600"/>
          </a:xfrm>
          <a:prstGeom prst="roundRect">
            <a:avLst>
              <a:gd name="adj" fmla="val 2182"/>
            </a:avLst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96596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C15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15–25%</a:t>
            </a:r>
            <a:endParaRPr lang="en-US" sz="7600" dirty="0"/>
          </a:p>
        </p:txBody>
      </p:sp>
      <p:sp>
        <p:nvSpPr>
          <p:cNvPr id="6" name="Text 4"/>
          <p:cNvSpPr/>
          <p:nvPr/>
        </p:nvSpPr>
        <p:spPr>
          <a:xfrm>
            <a:off x="960120" y="320040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in packaging input costs, 2026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0" y="1691640"/>
            <a:ext cx="384048" cy="384048"/>
          </a:xfrm>
          <a:prstGeom prst="ellipse">
            <a:avLst/>
          </a:prstGeom>
          <a:solidFill>
            <a:srgbClr val="C155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37960" y="166420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Crude-linked inputs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37960" y="196596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20–25% against pre-conflict levels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0" y="2715768"/>
            <a:ext cx="384048" cy="384048"/>
          </a:xfrm>
          <a:prstGeom prst="ellipse">
            <a:avLst/>
          </a:prstGeom>
          <a:solidFill>
            <a:srgbClr val="C155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0" y="2715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37960" y="268833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FMCG packaging specifically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37960" y="299008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15–20%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943600" y="3739896"/>
            <a:ext cx="384048" cy="384048"/>
          </a:xfrm>
          <a:prstGeom prst="ellipse">
            <a:avLst/>
          </a:prstGeom>
          <a:solidFill>
            <a:srgbClr val="C155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3739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37960" y="371246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D2C margins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37960" y="4014216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squeezed simultaneously on raw materials, packaging, logistics and manufacturing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94360" y="4983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margin defence against a dated, live shock — not a theoretical efficiency gain.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94360" y="5669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Packaging South Asia; Inc42, “Boxed In: The War Shock For D2C”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20" kern="0" dirty="0">
                <a:solidFill>
                  <a:srgbClr val="C15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BOTTLENECK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4572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that exists on paper, not in the room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94360" y="14630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brand sources independently. That is the correct thing for each brand to do.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5120640" cy="1371600"/>
          </a:xfrm>
          <a:prstGeom prst="roundRect">
            <a:avLst>
              <a:gd name="adj" fmla="val 4000"/>
            </a:avLst>
          </a:prstGeom>
          <a:solidFill>
            <a:srgbClr val="F2EFE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2402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6E8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30x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2423160" y="23774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buying power of any single brand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3611880"/>
            <a:ext cx="5120640" cy="1371600"/>
          </a:xfrm>
          <a:prstGeom prst="roundRect">
            <a:avLst>
              <a:gd name="adj" fmla="val 4000"/>
            </a:avLst>
          </a:prstGeom>
          <a:solidFill>
            <a:srgbClr val="F2EFE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37947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C15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1x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2423160" y="39319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negotiating leverage at the table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72200" y="2057400"/>
            <a:ext cx="5394960" cy="2926080"/>
          </a:xfrm>
          <a:prstGeom prst="roundRect">
            <a:avLst>
              <a:gd name="adj" fmla="val 1875"/>
            </a:avLst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37960" y="237744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Because at the moment a brand negotiates, nobody in the building can see what the other brands pay for the same physical object.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537960" y="39776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discipline problem. Not solved by a shared spreadsheet. And it gets monotonically worse as the portfolio grows.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94360" y="53949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15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at 11 brands. Designed for 30+.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20" kern="0" dirty="0">
                <a:solidFill>
                  <a:srgbClr val="C15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4572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bottle. Five names.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6766560" cy="658368"/>
          </a:xfrm>
          <a:prstGeom prst="roundRect">
            <a:avLst>
              <a:gd name="adj" fmla="val 8333"/>
            </a:avLst>
          </a:prstGeom>
          <a:solidFill>
            <a:srgbClr val="F2EFE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56362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50ml Amber Glass Bottle, 20mm neck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68680" y="1874520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Neude  ·  PDF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94360" y="2286000"/>
            <a:ext cx="6766560" cy="658368"/>
          </a:xfrm>
          <a:prstGeom prst="roundRect">
            <a:avLst>
              <a:gd name="adj" fmla="val 8333"/>
            </a:avLst>
          </a:prstGeom>
          <a:solidFill>
            <a:srgbClr val="F2EFE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34086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Amber Boston Round 50 ML (20/400)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2651760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 by Bie  ·  PDF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4360" y="3063240"/>
            <a:ext cx="6766560" cy="658368"/>
          </a:xfrm>
          <a:prstGeom prst="roundRect">
            <a:avLst>
              <a:gd name="adj" fmla="val 8333"/>
            </a:avLst>
          </a:prstGeom>
          <a:solidFill>
            <a:srgbClr val="F2EFE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311810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GB-AMB-50-20N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68680" y="3429000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Panchamrit  ·  WhatsApp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" y="3840480"/>
            <a:ext cx="6766560" cy="658368"/>
          </a:xfrm>
          <a:prstGeom prst="roundRect">
            <a:avLst>
              <a:gd name="adj" fmla="val 8333"/>
            </a:avLst>
          </a:prstGeom>
          <a:solidFill>
            <a:srgbClr val="F2EFE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89534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Glass bottle - amber - 50cc - neck 20mm - w/o cap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4206240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Neude  ·  email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4360" y="4617720"/>
            <a:ext cx="6766560" cy="658368"/>
          </a:xfrm>
          <a:prstGeom prst="roundRect">
            <a:avLst>
              <a:gd name="adj" fmla="val 8333"/>
            </a:avLst>
          </a:prstGeom>
          <a:solidFill>
            <a:srgbClr val="F2EFE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" y="467258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एम्बर ग्लास बॉटल 50ml 20mm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68680" y="4983480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Goodbug  ·  WhatsApp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772400" y="1508760"/>
            <a:ext cx="3794760" cy="3611880"/>
          </a:xfrm>
          <a:prstGeom prst="roundRect">
            <a:avLst>
              <a:gd name="adj" fmla="val 1519"/>
            </a:avLst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046720" y="18288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E8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PHYSICAL OBJECT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046720" y="2286000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cannot combine orders for things you cannot prove are the same thing.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8046720" y="3749040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bottleneck is not price comparison. It is SKU identity resolution — and that is what a script cannot do and a model against a spec graph can.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94360" y="54864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wrote these to be inconsistent. They arrived from four vendors across PDF, email and WhatsApp.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20" kern="0" dirty="0">
                <a:solidFill>
                  <a:srgbClr val="C15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 THE AI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4572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not a script, and why not a hire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3429000" cy="3063240"/>
          </a:xfrm>
          <a:prstGeom prst="roundRect">
            <a:avLst>
              <a:gd name="adj" fmla="val 1791"/>
            </a:avLst>
          </a:prstGeom>
          <a:solidFill>
            <a:srgbClr val="F2EFE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288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a script do it?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1945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15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68680" y="2880360"/>
            <a:ext cx="2880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fixed input schema. ~200 vendors, each with their own quote layout, new ones onboarding constantly. Any regex-based parser is obsolete within a quarter.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1600200"/>
            <a:ext cx="3429000" cy="3063240"/>
          </a:xfrm>
          <a:prstGeom prst="roundRect">
            <a:avLst>
              <a:gd name="adj" fmla="val 1791"/>
            </a:avLst>
          </a:prstGeom>
          <a:solidFill>
            <a:srgbClr val="F2EFE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0" y="18288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a team do it?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0" y="21945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15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 slow.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72000" y="2880360"/>
            <a:ext cx="2880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FTE of tedious, error-prone work — and quotes expire in 15–30 days. Value exists only inside that window. A human queue introduces exactly the latency that destroys it.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01000" y="1600200"/>
            <a:ext cx="3429000" cy="3063240"/>
          </a:xfrm>
          <a:prstGeom prst="roundRect">
            <a:avLst>
              <a:gd name="adj" fmla="val 1791"/>
            </a:avLst>
          </a:prstGeom>
          <a:solidFill>
            <a:srgbClr val="F2EFE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75320" y="18288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agentic?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75320" y="21945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15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 a loop.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275320" y="2880360"/>
            <a:ext cx="2880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Low-confidence extraction must trigger a clarifying action. Resolution must decide match-or-create against growing state. Detection runs continuously as quotes arrive and lapse.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49834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Perceive → reason → act → observe, against persistent state. That is an agent, not a transform.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20" kern="0" dirty="0">
                <a:solidFill>
                  <a:srgbClr val="C15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MONEY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4572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surcharge we pay only because we order apart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10972800" cy="960120"/>
          </a:xfrm>
          <a:prstGeom prst="roundRect">
            <a:avLst>
              <a:gd name="adj" fmla="val 5714"/>
            </a:avLst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691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“Suppliers may accept 500 units if buyers agree to pay 20–30% more per unit.”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60120" y="20848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reporting on 2026 packaging procurement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2788920"/>
            <a:ext cx="5349240" cy="1783080"/>
          </a:xfrm>
          <a:prstGeom prst="roundRect">
            <a:avLst>
              <a:gd name="adj" fmla="val 3077"/>
            </a:avLst>
          </a:prstGeom>
          <a:solidFill>
            <a:srgbClr val="F2EFE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29718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separately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29184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15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×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2286000" y="333756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brands, each below MOQ, each paying the sub-MOQ premium — four separate times.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2788920"/>
            <a:ext cx="5349240" cy="1783080"/>
          </a:xfrm>
          <a:prstGeom prst="roundRect">
            <a:avLst>
              <a:gd name="adj" fmla="val 3077"/>
            </a:avLst>
          </a:prstGeom>
          <a:solidFill>
            <a:srgbClr val="F2EFE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37960" y="29718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together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37960" y="329184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6E8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×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7909560" y="333756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consolidated order clears the MOQ. The premium does not apply at all.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48920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saving is not “we negotiated harder.” It is “we stopped paying a surcharge that existed only because we ordered separately.”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594360" y="56235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Arithmetic, not skill — which is why it is defensible. Negotiating leverage is upside on top.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20" kern="0" dirty="0">
                <a:solidFill>
                  <a:srgbClr val="C15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4572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layers, three human gates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10881360" cy="603504"/>
          </a:xfrm>
          <a:prstGeom prst="roundRect">
            <a:avLst>
              <a:gd name="adj" fmla="val 9091"/>
            </a:avLst>
          </a:prstGeom>
          <a:solidFill>
            <a:srgbClr val="F2EFE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50392" y="160020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55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63040" y="160020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200400" y="1609344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WhatsApp, file drop, ERP export — stored immutably with provenance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139696"/>
            <a:ext cx="10881360" cy="603504"/>
          </a:xfrm>
          <a:prstGeom prst="roundRect">
            <a:avLst>
              <a:gd name="adj" fmla="val 9091"/>
            </a:avLst>
          </a:prstGeom>
          <a:solidFill>
            <a:srgbClr val="E8E4D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50392" y="2276856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55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227685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200400" y="228600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items with per-field confidence and source-span citation. Never infers a missing value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46920" y="229514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80" kern="0" dirty="0">
                <a:solidFill>
                  <a:srgbClr val="C15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ROUTING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2816352"/>
            <a:ext cx="10881360" cy="603504"/>
          </a:xfrm>
          <a:prstGeom prst="roundRect">
            <a:avLst>
              <a:gd name="adj" fmla="val 9091"/>
            </a:avLst>
          </a:prstGeom>
          <a:solidFill>
            <a:srgbClr val="E8E4D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50392" y="295351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55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63040" y="2953512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200400" y="2962656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item → canonical SKU. Attribute normalization, tolerance rules, fuzzy fallback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46920" y="29718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80" kern="0" dirty="0">
                <a:solidFill>
                  <a:srgbClr val="C15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4360" y="3493008"/>
            <a:ext cx="10881360" cy="603504"/>
          </a:xfrm>
          <a:prstGeom prst="roundRect">
            <a:avLst>
              <a:gd name="adj" fmla="val 9091"/>
            </a:avLst>
          </a:prstGeom>
          <a:solidFill>
            <a:srgbClr val="F2EFE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50392" y="3630168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55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363016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GRAPH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200400" y="363931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SKUs, vendors keyed on GSTIN, brands, price history, procurement mode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4360" y="4169664"/>
            <a:ext cx="10881360" cy="603504"/>
          </a:xfrm>
          <a:prstGeom prst="roundRect">
            <a:avLst>
              <a:gd name="adj" fmla="val 9091"/>
            </a:avLst>
          </a:prstGeom>
          <a:solidFill>
            <a:srgbClr val="F2EFE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50392" y="4306824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55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63040" y="430682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200400" y="4315968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always-on detectors: bundling, price outlier, concentration, lead-time drift, expiry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94360" y="4846320"/>
            <a:ext cx="10881360" cy="603504"/>
          </a:xfrm>
          <a:prstGeom prst="roundRect">
            <a:avLst>
              <a:gd name="adj" fmla="val 9091"/>
            </a:avLst>
          </a:prstGeom>
          <a:solidFill>
            <a:srgbClr val="F2EFE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50392" y="498348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55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463040" y="498348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3200400" y="4992624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negotiation packet a human takes into the call, with reasoning shown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94360" y="5522976"/>
            <a:ext cx="10881360" cy="603504"/>
          </a:xfrm>
          <a:prstGeom prst="roundRect">
            <a:avLst>
              <a:gd name="adj" fmla="val 9091"/>
            </a:avLst>
          </a:prstGeom>
          <a:solidFill>
            <a:srgbClr val="E8E4D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50392" y="5660136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55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463040" y="566013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3200400" y="566928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manager approves. Outcome writes back — the graph learns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646920" y="567842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80" kern="0" dirty="0">
                <a:solidFill>
                  <a:srgbClr val="C15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2 &amp; 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94360" y="62636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 never commits spend and never contacts a vendor.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20" kern="0" dirty="0">
                <a:solidFill>
                  <a:srgbClr val="C15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MUST BE CENTRAL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4572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that compounds instead of adding up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5257800" cy="1828800"/>
          </a:xfrm>
          <a:prstGeom prst="roundRect">
            <a:avLst>
              <a:gd name="adj" fmla="val 3000"/>
            </a:avLst>
          </a:prstGeom>
          <a:solidFill>
            <a:srgbClr val="F2EFE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AI proposals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14400" y="21214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AA3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one team do one thing faster. Deploy to 30 brands, get 30 units of value, pay 30 units of cost.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3657600"/>
            <a:ext cx="5257800" cy="2148840"/>
          </a:xfrm>
          <a:prstGeom prst="roundRect">
            <a:avLst>
              <a:gd name="adj" fmla="val 2553"/>
            </a:avLst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3840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E8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LOOM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4400" y="413308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15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Superlinear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914400" y="46634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quote any brand receives makes the graph denser — which makes every future negotiation across all other brands better informed.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55080" y="1645920"/>
            <a:ext cx="5212080" cy="4160520"/>
          </a:xfrm>
          <a:prstGeom prst="roundRect">
            <a:avLst>
              <a:gd name="adj" fmla="val 1319"/>
            </a:avLst>
          </a:prstGeom>
          <a:solidFill>
            <a:srgbClr val="F2EFE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75120" y="19659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next brand starts at portfolio-best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6693408" y="2926080"/>
            <a:ext cx="109728" cy="109728"/>
          </a:xfrm>
          <a:prstGeom prst="ellipse">
            <a:avLst/>
          </a:prstGeom>
          <a:solidFill>
            <a:srgbClr val="C155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67728" y="283464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12 does not negotiate up from scratch — it inherits portfolio-best pricing, qualified vendors and known lead times on day one.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93408" y="3931920"/>
            <a:ext cx="109728" cy="109728"/>
          </a:xfrm>
          <a:prstGeom prst="ellipse">
            <a:avLst/>
          </a:prstGeom>
          <a:solidFill>
            <a:srgbClr val="C155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67728" y="384048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Think9 grows partly by acquisition. An acquired brand arrives with its own vendor list and its own naming conventions — canonical resolution is exactly the tool that absorbs it.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693408" y="4937760"/>
            <a:ext cx="109728" cy="109728"/>
          </a:xfrm>
          <a:prstGeom prst="ellipse">
            <a:avLst/>
          </a:prstGeom>
          <a:solidFill>
            <a:srgbClr val="C155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67728" y="484632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only works if the system sits at the centre. Which is what “centralized intelligence layer” asks for.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20" kern="0" dirty="0">
                <a:solidFill>
                  <a:srgbClr val="C15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4572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gates, placed where errors cost most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7680960" cy="1170432"/>
          </a:xfrm>
          <a:prstGeom prst="roundRect">
            <a:avLst>
              <a:gd name="adj" fmla="val 4688"/>
            </a:avLst>
          </a:prstGeom>
          <a:solidFill>
            <a:srgbClr val="F2EFE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38528"/>
            <a:ext cx="384048" cy="384048"/>
          </a:xfrm>
          <a:prstGeom prst="ellipse">
            <a:avLst/>
          </a:prstGeom>
          <a:solidFill>
            <a:srgbClr val="C155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08760" y="17556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creation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166360" y="177393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55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08760" y="2084832"/>
            <a:ext cx="6309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pollution. A wrong merge silently corrupts every downstream recommendation and is hard to detect afterwards.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943600" y="17556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E8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 analyst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2852928"/>
            <a:ext cx="7680960" cy="1170432"/>
          </a:xfrm>
          <a:prstGeom prst="roundRect">
            <a:avLst>
              <a:gd name="adj" fmla="val 4688"/>
            </a:avLst>
          </a:prstGeom>
          <a:solidFill>
            <a:srgbClr val="F2EFE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14400" y="3236976"/>
            <a:ext cx="384048" cy="384048"/>
          </a:xfrm>
          <a:prstGeom prst="ellipse">
            <a:avLst/>
          </a:prstGeom>
          <a:solidFill>
            <a:srgbClr val="C155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236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08760" y="305409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recommendation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166360" y="307238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55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L6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508760" y="3383280"/>
            <a:ext cx="6309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Committing money on a machine judgment. The agent proposes consolidation; a human authorises it.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943600" y="305409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E8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manager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" y="4151376"/>
            <a:ext cx="7680960" cy="1170432"/>
          </a:xfrm>
          <a:prstGeom prst="roundRect">
            <a:avLst>
              <a:gd name="adj" fmla="val 4688"/>
            </a:avLst>
          </a:prstGeom>
          <a:solidFill>
            <a:srgbClr val="F2EFE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14400" y="4535424"/>
            <a:ext cx="384048" cy="384048"/>
          </a:xfrm>
          <a:prstGeom prst="ellipse">
            <a:avLst/>
          </a:prstGeom>
          <a:solidFill>
            <a:srgbClr val="C155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535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435254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communication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166360" y="437083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55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508760" y="4681728"/>
            <a:ext cx="6309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Reputational and negotiating-position damage. The agent drafts; a human sends.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943600" y="435254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E8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manager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595360" y="1554480"/>
            <a:ext cx="2971800" cy="3895344"/>
          </a:xfrm>
          <a:prstGeom prst="roundRect">
            <a:avLst>
              <a:gd name="adj" fmla="val 1846"/>
            </a:avLst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869680" y="1783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8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routing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869680" y="2286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55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≥ 0.90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869680" y="2560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auto-advance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869680" y="30358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55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0.60 – 0.90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869680" y="33101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869680" y="378561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55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0.60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869680" y="40599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to human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869680" y="46634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effort scales with ambiguity, not with volume.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94360" y="56692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autonomy here would be a design error, not a feature.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20" kern="0" dirty="0">
                <a:solidFill>
                  <a:srgbClr val="C15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4572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runs. No API key, 1.8 seconds.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2560320" cy="1234440"/>
          </a:xfrm>
          <a:prstGeom prst="roundRect">
            <a:avLst>
              <a:gd name="adj" fmla="val 4444"/>
            </a:avLst>
          </a:prstGeom>
          <a:solidFill>
            <a:srgbClr val="F2EFE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67335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15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artifacts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92424" y="1554480"/>
            <a:ext cx="2560320" cy="1234440"/>
          </a:xfrm>
          <a:prstGeom prst="roundRect">
            <a:avLst>
              <a:gd name="adj" fmla="val 4444"/>
            </a:avLst>
          </a:prstGeom>
          <a:solidFill>
            <a:srgbClr val="F2EFE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21024" y="167335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15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621024" y="22860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items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90488" y="1554480"/>
            <a:ext cx="2560320" cy="1234440"/>
          </a:xfrm>
          <a:prstGeom prst="roundRect">
            <a:avLst>
              <a:gd name="adj" fmla="val 4444"/>
            </a:avLst>
          </a:prstGeom>
          <a:solidFill>
            <a:srgbClr val="F2EFE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19088" y="167335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15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419088" y="22860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SKUs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988552" y="1554480"/>
            <a:ext cx="2560320" cy="1234440"/>
          </a:xfrm>
          <a:prstGeom prst="roundRect">
            <a:avLst>
              <a:gd name="adj" fmla="val 4444"/>
            </a:avLst>
          </a:prstGeom>
          <a:solidFill>
            <a:srgbClr val="F2EFE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217152" y="167335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15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9217152" y="22860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Think9 brands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4360" y="2971800"/>
            <a:ext cx="5394960" cy="2148840"/>
          </a:xfrm>
          <a:prstGeom prst="roundRect">
            <a:avLst>
              <a:gd name="adj" fmla="val 2553"/>
            </a:avLst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32004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8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incompatible formats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356616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PDF letterheads  ·  3 CSVs with mutually contradictory column schemas  ·  2 email bodies with prices in prose  ·  3 WhatsApp transcripts including Hinglish and Devanagari  ·  1 Excel with merged cells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55080" y="2971800"/>
            <a:ext cx="5212080" cy="2514600"/>
          </a:xfrm>
          <a:prstGeom prst="roundRect">
            <a:avLst>
              <a:gd name="adj" fmla="val 2182"/>
            </a:avLst>
          </a:prstGeom>
          <a:solidFill>
            <a:srgbClr val="F2EFE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675120" y="32004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 not scaffolded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693408" y="3648456"/>
            <a:ext cx="109728" cy="109728"/>
          </a:xfrm>
          <a:prstGeom prst="ellipse">
            <a:avLst/>
          </a:prstGeom>
          <a:solidFill>
            <a:srgbClr val="C155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67728" y="35661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cascade and the contradiction rule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693408" y="4059936"/>
            <a:ext cx="109728" cy="109728"/>
          </a:xfrm>
          <a:prstGeom prst="ellipse">
            <a:avLst/>
          </a:prstGeom>
          <a:solidFill>
            <a:srgbClr val="C155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67728" y="39776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detectors computing from a live SQLite graph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693408" y="4471416"/>
            <a:ext cx="109728" cy="109728"/>
          </a:xfrm>
          <a:prstGeom prst="ellipse">
            <a:avLst/>
          </a:prstGeom>
          <a:solidFill>
            <a:srgbClr val="C155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67728" y="43891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rupee figure derived, none asserted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675120" y="48463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normalizer was written before the quote data existed and has not been tuned against it.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0" y="5806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run_demo.py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20" kern="0" dirty="0">
                <a:solidFill>
                  <a:srgbClr val="C15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 — OUTPUT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4572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names resolved. One bundle. A rupee figure.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6720840" cy="1965960"/>
          </a:xfrm>
          <a:prstGeom prst="roundRect">
            <a:avLst>
              <a:gd name="adj" fmla="val 2791"/>
            </a:avLst>
          </a:prstGeom>
          <a:solidFill>
            <a:srgbClr val="F2EFE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691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155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GLS-AMB-050-20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50ml amber glass bottle, 20mm neck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14400" y="2395728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Neude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63347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800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292608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 20.75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487168" y="2395728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 by Bie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87168" y="263347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600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487168" y="292608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 21.50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059936" y="2395728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Panchamrit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059936" y="263347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450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059936" y="292608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 22.50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632704" y="2395728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Goodbug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32704" y="263347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700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632704" y="292608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 22.80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14400" y="3182112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E8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2,550 units of requirement  vs  MOQ 2,500  →  clears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772400" y="1508760"/>
            <a:ext cx="3794760" cy="1965960"/>
          </a:xfrm>
          <a:prstGeom prst="roundRect">
            <a:avLst>
              <a:gd name="adj" fmla="val 2791"/>
            </a:avLst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046720" y="17830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15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13,255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8046720" y="246888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on this SKU by consolidating four brands into one order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94360" y="3657600"/>
            <a:ext cx="6720840" cy="1828800"/>
          </a:xfrm>
          <a:prstGeom prst="roundRect">
            <a:avLst>
              <a:gd name="adj" fmla="val 3000"/>
            </a:avLst>
          </a:prstGeom>
          <a:solidFill>
            <a:srgbClr val="F2EFE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14400" y="384048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refusal matters as much as the match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14400" y="4160520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48ml bottle scored 85% description similarity against the 50ml canonical — exactly the fuzzy-match threshold. A text-based matcher merges them. LOOM refuses: volume 48 ≠ 50, both stated.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14400" y="502920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15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 it merged, it would have added 1,000 phantom units to the bundle above.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772400" y="3657600"/>
            <a:ext cx="3794760" cy="1828800"/>
          </a:xfrm>
          <a:prstGeom prst="roundRect">
            <a:avLst>
              <a:gd name="adj" fmla="val 3000"/>
            </a:avLst>
          </a:prstGeom>
          <a:solidFill>
            <a:srgbClr val="F2EFE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046720" y="38404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31,672.60</a:t>
            </a:r>
            <a:endParaRPr lang="en-US" sz="2900" dirty="0"/>
          </a:p>
        </p:txBody>
      </p:sp>
      <p:sp>
        <p:nvSpPr>
          <p:cNvPr id="29" name="Text 27"/>
          <p:cNvSpPr/>
          <p:nvPr/>
        </p:nvSpPr>
        <p:spPr>
          <a:xfrm>
            <a:off x="8046720" y="437083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identified across six audited findings, from 12 quotes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046720" y="491947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E8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27 resolved  (85%)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6E8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held for human review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94360" y="57150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findings are excluded from the total — they quantify exposure against spend already counted, not new money.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20" kern="0" dirty="0">
                <a:solidFill>
                  <a:srgbClr val="C15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4572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Thirty days to a banked saving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94360" y="14173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to packaging only — highest cross-brand overlap, substantial spend, and no regulatory sign-off to slow the loop.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2560320" cy="3200400"/>
          </a:xfrm>
          <a:prstGeom prst="roundRect">
            <a:avLst>
              <a:gd name="adj" fmla="val 2143"/>
            </a:avLst>
          </a:prstGeom>
          <a:solidFill>
            <a:srgbClr val="F2EFE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103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15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1–7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239572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 &amp; extraction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for packaging. Seed ~150 canonical SKUs from the top 3 brands by spend.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431596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453542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F1 ≥ 0.90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92424" y="1920240"/>
            <a:ext cx="2560320" cy="3200400"/>
          </a:xfrm>
          <a:prstGeom prst="roundRect">
            <a:avLst>
              <a:gd name="adj" fmla="val 2143"/>
            </a:avLst>
          </a:prstGeom>
          <a:solidFill>
            <a:srgbClr val="F2EFE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21024" y="2103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15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8–15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621024" y="239572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Resolution &amp; graph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621024" y="30632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Backfill 90 days of history via GST e-invoice records. GSTIN as vendor key.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21024" y="431596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21024" y="453542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of spend resolved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90488" y="1920240"/>
            <a:ext cx="2560320" cy="3200400"/>
          </a:xfrm>
          <a:prstGeom prst="roundRect">
            <a:avLst>
              <a:gd name="adj" fmla="val 2143"/>
            </a:avLst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19088" y="2103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E8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16–23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19088" y="239572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real negotiation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19088" y="30632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agent live. Run one consolidated negotiation end to end.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19088" y="431596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E8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19088" y="453542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15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banked rupee saving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988552" y="1920240"/>
            <a:ext cx="2560320" cy="3200400"/>
          </a:xfrm>
          <a:prstGeom prst="roundRect">
            <a:avLst>
              <a:gd name="adj" fmla="val 2143"/>
            </a:avLst>
          </a:prstGeom>
          <a:solidFill>
            <a:srgbClr val="F2EFE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217152" y="21031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15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24–30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217152" y="239572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Gates &amp; measurement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217152" y="30632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Human-gate console, alerting, instrumentation. Publish the baseline.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217152" y="431596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217152" y="453542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time, before / after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94360" y="53492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system that banks one real saving in month one earns the right to expand to ingredients, logistics and services. One that produces a dashboard does not.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20" kern="0" dirty="0">
                <a:solidFill>
                  <a:srgbClr val="C15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4572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Boring on purpose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7178040" cy="841248"/>
          </a:xfrm>
          <a:prstGeom prst="roundRect">
            <a:avLst>
              <a:gd name="adj" fmla="val 6522"/>
            </a:avLst>
          </a:prstGeom>
          <a:solidFill>
            <a:srgbClr val="F2EFE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8249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468880" y="166420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vision, OCR fallback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468880" y="1975104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the brittle OCR-to-parse chain for photographed quotes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4360" y="2487168"/>
            <a:ext cx="7178040" cy="841248"/>
          </a:xfrm>
          <a:prstGeom prst="roundRect">
            <a:avLst>
              <a:gd name="adj" fmla="val 6522"/>
            </a:avLst>
          </a:prstGeom>
          <a:solidFill>
            <a:srgbClr val="F2EFE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26151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468880" y="259689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Temporal, not LangGraph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468880" y="290779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Negotiations span days and must survive restarts. Durability beats graph ergonomics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4360" y="3419856"/>
            <a:ext cx="7178040" cy="841248"/>
          </a:xfrm>
          <a:prstGeom prst="roundRect">
            <a:avLst>
              <a:gd name="adj" fmla="val 6522"/>
            </a:avLst>
          </a:prstGeom>
          <a:solidFill>
            <a:srgbClr val="F2EFE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35478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468880" y="352958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+ pgvector, not Neo4j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468880" y="384048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this volume the graph is small; recursive CTEs handle the traversals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" y="4352544"/>
            <a:ext cx="7178040" cy="841248"/>
          </a:xfrm>
          <a:prstGeom prst="roundRect">
            <a:avLst>
              <a:gd name="adj" fmla="val 6522"/>
            </a:avLst>
          </a:prstGeom>
          <a:solidFill>
            <a:srgbClr val="F2EFE9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" y="44805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468880" y="446227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Streamlit console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468880" y="477316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gates must exist by day 30. Streamlit builds in days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183880" y="1554480"/>
            <a:ext cx="3383280" cy="3566160"/>
          </a:xfrm>
          <a:prstGeom prst="roundRect">
            <a:avLst>
              <a:gd name="adj" fmla="val 1622"/>
            </a:avLst>
          </a:prstGeom>
          <a:solidFill>
            <a:srgbClr val="1B2A4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5400000">
              <a:srgbClr val="1B2A4A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458200" y="17830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8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sanity check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58200" y="21945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15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24,000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8458200" y="27432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line-items per year. About 100 a working day.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458200" y="34290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15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~$500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8458200" y="39776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year in inference cost, against a savings target in crores.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458200" y="46177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8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small-data problem wearing a big-data costume.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4360" y="54864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Kafka. No Spark. No vector database. Refusing infrastructure the scale does not justify is itself a design decision.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20" kern="0" dirty="0">
                <a:solidFill>
                  <a:srgbClr val="6E8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4572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would make me wrong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0881360" cy="896112"/>
          </a:xfrm>
          <a:prstGeom prst="roundRect">
            <a:avLst>
              <a:gd name="adj" fmla="val 6122"/>
            </a:avLst>
          </a:prstGeom>
          <a:solidFill>
            <a:srgbClr val="0F1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6968" y="1545336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C15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canonical merge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206240" y="1545336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SKUs unified, and every recommendation built on a false equivalence.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543800" y="1545336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1. All merges reversible with audit trail. Precision weighted above recall.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4360" y="2423160"/>
            <a:ext cx="10881360" cy="896112"/>
          </a:xfrm>
          <a:prstGeom prst="roundRect">
            <a:avLst>
              <a:gd name="adj" fmla="val 6122"/>
            </a:avLst>
          </a:prstGeom>
          <a:solidFill>
            <a:srgbClr val="0F1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2551176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C15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manufacturers buy the packaging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206240" y="2551176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co-packer procures, the brand isn't buying it and there is nothing to bundle.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543800" y="2551176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brand-SKU edge carries procurement mode. Direct-buy bundles; CM-embedded gets rate-benchmarked.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4360" y="3429000"/>
            <a:ext cx="10881360" cy="896112"/>
          </a:xfrm>
          <a:prstGeom prst="roundRect">
            <a:avLst>
              <a:gd name="adj" fmla="val 6122"/>
            </a:avLst>
          </a:prstGeom>
          <a:solidFill>
            <a:srgbClr val="0F1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3557016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C15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 learn we bundle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206240" y="3557016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quotes inflate in anticipation of consolidated volume.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543800" y="3557016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disclose portfolio volume until commit. Maintain and use BATNA vendors.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" y="4434840"/>
            <a:ext cx="10881360" cy="896112"/>
          </a:xfrm>
          <a:prstGeom prst="roundRect">
            <a:avLst>
              <a:gd name="adj" fmla="val 6122"/>
            </a:avLst>
          </a:prstGeom>
          <a:solidFill>
            <a:srgbClr val="0F1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" y="4562856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C15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Over-consolidation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206240" y="4562856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Single-sourcing a bundled SKU creates a new portfolio-level supply risk.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543800" y="4562856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E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is a first-class alert, surfaced alongside every saving.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94360" y="57150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E8F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architecture that has not enumerated its failure modes has not been designed.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LOOM - Cross-Portfolio Sourcing Intelligence</dc:title>
  <dc:subject>PptxGenJS Presentation</dc:subject>
  <dc:creator>Kyros</dc:creator>
  <cp:lastModifiedBy>Kyros</cp:lastModifiedBy>
  <cp:revision>1</cp:revision>
  <dcterms:created xsi:type="dcterms:W3CDTF">2026-08-11T05:46:06Z</dcterms:created>
  <dcterms:modified xsi:type="dcterms:W3CDTF">2026-08-11T05:46:06Z</dcterms:modified>
</cp:coreProperties>
</file>